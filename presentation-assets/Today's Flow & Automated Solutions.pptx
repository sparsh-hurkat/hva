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Relationship Id="rId13" Type="http://schemas.openxmlformats.org/officeDocument/2006/relationships/image" Target="../media/image23.png"/><Relationship Id="rId14" Type="http://schemas.openxmlformats.org/officeDocument/2006/relationships/image" Target="../media/image24.png"/><Relationship Id="rId15" Type="http://schemas.openxmlformats.org/officeDocument/2006/relationships/image" Target="../media/image25.png"/><Relationship Id="rId16" Type="http://schemas.openxmlformats.org/officeDocument/2006/relationships/image" Target="../media/image26.png"/><Relationship Id="rId17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866900"/>
            <a:ext cx="2562225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8525" y="1866900"/>
            <a:ext cx="2562225" cy="3619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0" y="1866900"/>
            <a:ext cx="2562225" cy="3619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43975" y="1866900"/>
            <a:ext cx="2562225" cy="3619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0" y="-609600"/>
            <a:ext cx="5715000" cy="4476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2025" y="5934075"/>
            <a:ext cx="209550" cy="2095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23975" y="5943600"/>
            <a:ext cx="83534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Inter SemiBold"/>
              </a:rPr>
              <a:t>Current Reality: A fragmented, manual workflow dependent on constant pings, log searches, and portal switching.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5325" y="3648075"/>
            <a:ext cx="2543175" cy="5715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5825" y="2143125"/>
            <a:ext cx="2162175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700" i="0" u="none">
                <a:solidFill>
                  <a:srgbClr val="38BDF8"/>
                </a:solidFill>
                <a:latin typeface="Plus Jakarta Sans Black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2724150"/>
            <a:ext cx="2270283" cy="261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b="0" sz="1650" i="0" u="none">
                <a:solidFill>
                  <a:srgbClr val="F8FAFC"/>
                </a:solidFill>
                <a:latin typeface="Plus Jakarta Sans ExtraBold"/>
              </a:rPr>
              <a:t>Code &amp;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3100387"/>
            <a:ext cx="2162175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Inter Medium"/>
              </a:rPr>
              <a:t>Developers push code in ADO. Pipelines trigger isolated scans across Mend, Fortify, and Wiz independently.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48050" y="3648075"/>
            <a:ext cx="2543175" cy="571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8550" y="2143125"/>
            <a:ext cx="2162175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700" i="0" u="none">
                <a:solidFill>
                  <a:srgbClr val="F59E0B"/>
                </a:solidFill>
                <a:latin typeface="Plus Jakarta Sans Black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8550" y="2724150"/>
            <a:ext cx="2270283" cy="261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b="0" sz="1650" i="0" u="none">
                <a:solidFill>
                  <a:srgbClr val="F8FAFC"/>
                </a:solidFill>
                <a:latin typeface="Plus Jakarta Sans ExtraBold"/>
              </a:rPr>
              <a:t>Tool Digging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8550" y="3100387"/>
            <a:ext cx="2162175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Inter Medium"/>
              </a:rPr>
              <a:t>Devs log into 3 separate portals and sift through raw pipeline logs to identify blocking vulnerabilities.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0775" y="3648075"/>
            <a:ext cx="2543175" cy="571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91275" y="2143125"/>
            <a:ext cx="2162175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700" i="0" u="none">
                <a:solidFill>
                  <a:srgbClr val="F97316"/>
                </a:solidFill>
                <a:latin typeface="Plus Jakarta Sans Black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275" y="2724150"/>
            <a:ext cx="2270283" cy="261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b="0" sz="1650" i="0" u="none">
                <a:solidFill>
                  <a:srgbClr val="F8FAFC"/>
                </a:solidFill>
                <a:latin typeface="Plus Jakarta Sans ExtraBold"/>
              </a:rPr>
              <a:t>Manual Chasing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275" y="3100387"/>
            <a:ext cx="2162175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Inter Medium"/>
              </a:rPr>
              <a:t>Release Managers manually message devs asking: </a:t>
            </a:r>
            <a:r>
              <a:rPr b="0" sz="1050" i="1" u="none">
                <a:solidFill>
                  <a:srgbClr val="94A3B8"/>
                </a:solidFill>
                <a:latin typeface="Inter Medium"/>
              </a:rPr>
              <a:t>"Is Build #X clear of critical issues for shipping?"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53500" y="3648075"/>
            <a:ext cx="2543175" cy="5715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2143125"/>
            <a:ext cx="2162175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700" i="0" u="none">
                <a:solidFill>
                  <a:srgbClr val="EF4444"/>
                </a:solidFill>
                <a:latin typeface="Plus Jakarta Sans Black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724150"/>
            <a:ext cx="2270283" cy="261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b="0" sz="1650" i="0" u="none">
                <a:solidFill>
                  <a:srgbClr val="F8FAFC"/>
                </a:solidFill>
                <a:latin typeface="Plus Jakarta Sans ExtraBold"/>
              </a:rPr>
              <a:t>Release Stalls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3100387"/>
            <a:ext cx="2162175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Inter Medium"/>
              </a:rPr>
              <a:t>Releases get delayed, teams wait for manual lookups, or releases ship blindly with unknown risk exposure.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14625" y="2224087"/>
            <a:ext cx="333375" cy="2667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67350" y="2224087"/>
            <a:ext cx="333375" cy="2667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20075" y="2224087"/>
            <a:ext cx="333375" cy="2667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039475" y="2224087"/>
            <a:ext cx="266700" cy="2667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85800" y="981075"/>
            <a:ext cx="1136142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FFFFFF"/>
                </a:solidFill>
                <a:latin typeface="Plus Jakarta Sans ExtraBold"/>
              </a:rPr>
              <a:t>How It Works </a:t>
            </a:r>
            <a:r>
              <a:rPr b="0" sz="3000" i="0" u="none">
                <a:solidFill>
                  <a:srgbClr val="EF4444"/>
                </a:solidFill>
                <a:latin typeface="Plus Jakarta Sans ExtraBold"/>
              </a:rPr>
              <a:t>Today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753100"/>
            <a:ext cx="10820400" cy="571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163365"/>
            <a:ext cx="5314950" cy="160436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0" y="2163365"/>
            <a:ext cx="5314950" cy="160436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958232"/>
            <a:ext cx="5314950" cy="160436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0" y="3958232"/>
            <a:ext cx="5314950" cy="1604367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0" y="-609600"/>
            <a:ext cx="5715000" cy="83939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86825" y="5938837"/>
            <a:ext cx="23336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4D399"/>
                </a:solidFill>
                <a:latin typeface="Plus Jakarta Sans"/>
              </a:rPr>
              <a:t>Eliminating 68% Release Delays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1550" y="5924550"/>
            <a:ext cx="200025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04925" y="5934075"/>
            <a:ext cx="57912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FFFFFF"/>
                </a:solidFill>
                <a:latin typeface="Plus Jakarta Sans ExtraBold"/>
              </a:rPr>
              <a:t>Direct Impact: </a:t>
            </a:r>
            <a:r>
              <a:rPr b="0" sz="1275" i="0" u="none">
                <a:solidFill>
                  <a:srgbClr val="38BDF8"/>
                </a:solidFill>
                <a:latin typeface="Plus Jakarta Sans ExtraBold"/>
              </a:rPr>
              <a:t>Zero Manual Pings</a:t>
            </a:r>
            <a:r>
              <a:rPr b="0" sz="1275" i="0" u="none">
                <a:solidFill>
                  <a:srgbClr val="FFFFFF"/>
                </a:solidFill>
                <a:latin typeface="Plus Jakarta Sans ExtraBold"/>
              </a:rPr>
              <a:t> &amp; Automated ADO Ticket + PR Workflow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1550" y="2382440"/>
            <a:ext cx="495300" cy="4953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4425" y="3115865"/>
            <a:ext cx="152400" cy="152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62075" y="3096815"/>
            <a:ext cx="4257675" cy="347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b="0" sz="1012" i="0" u="none">
                <a:solidFill>
                  <a:srgbClr val="34D399"/>
                </a:solidFill>
                <a:latin typeface="Inter Black"/>
              </a:rPr>
              <a:t>Single Pane of Glass:</a:t>
            </a:r>
            <a:r>
              <a:rPr b="1" sz="1012" i="0" u="none">
                <a:solidFill>
                  <a:srgbClr val="34D399"/>
                </a:solidFill>
                <a:latin typeface="Inter"/>
              </a:rPr>
              <a:t> Aggregates Mend, Fortify &amp; Wiz findings in 1 unified dashboard.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0" y="2382440"/>
            <a:ext cx="495300" cy="4953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19875" y="3115865"/>
            <a:ext cx="152400" cy="152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867525" y="3096815"/>
            <a:ext cx="4257675" cy="347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b="0" sz="1012" i="0" u="none">
                <a:solidFill>
                  <a:srgbClr val="34D399"/>
                </a:solidFill>
                <a:latin typeface="Inter Black"/>
              </a:rPr>
              <a:t>Clear 3-Click Path:</a:t>
            </a:r>
            <a:r>
              <a:rPr b="1" sz="1012" i="0" u="none">
                <a:solidFill>
                  <a:srgbClr val="34D399"/>
                </a:solidFill>
                <a:latin typeface="Inter"/>
              </a:rPr>
              <a:t> Seamless navigation from Release Work Item ➔ Build ➔ Vulnerable Code Line.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1550" y="4177307"/>
            <a:ext cx="495300" cy="4953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14425" y="4910732"/>
            <a:ext cx="152400" cy="152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62075" y="4891682"/>
            <a:ext cx="4257675" cy="347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b="0" sz="1012" i="0" u="none">
                <a:solidFill>
                  <a:srgbClr val="34D399"/>
                </a:solidFill>
                <a:latin typeface="Inter Black"/>
              </a:rPr>
              <a:t>Compliant Remediation:</a:t>
            </a:r>
            <a:r>
              <a:rPr b="1" sz="1012" i="0" u="none">
                <a:solidFill>
                  <a:srgbClr val="34D399"/>
                </a:solidFill>
                <a:latin typeface="Inter"/>
              </a:rPr>
              <a:t> Generates fixes using pre-approved Artifactory package versions.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7000" y="4177307"/>
            <a:ext cx="495300" cy="4953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19875" y="4910732"/>
            <a:ext cx="152400" cy="1524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867525" y="4891682"/>
            <a:ext cx="4257675" cy="347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b="0" sz="1012" i="0" u="none">
                <a:solidFill>
                  <a:srgbClr val="34D399"/>
                </a:solidFill>
                <a:latin typeface="Inter Black"/>
              </a:rPr>
              <a:t>End-to-End Automation:</a:t>
            </a:r>
            <a:r>
              <a:rPr b="1" sz="1012" i="0" u="none">
                <a:solidFill>
                  <a:srgbClr val="34D399"/>
                </a:solidFill>
                <a:latin typeface="Inter"/>
              </a:rPr>
              <a:t> Triggers pipelines, auto-creates tracking tickets &amp; opens 1-click PRs in ADO.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90612" y="2515790"/>
            <a:ext cx="257175" cy="2286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619250" y="2438697"/>
            <a:ext cx="282892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b="0" sz="1500" i="0" u="none">
                <a:solidFill>
                  <a:srgbClr val="38BDF8"/>
                </a:solidFill>
                <a:latin typeface="Plus Jakarta Sans Black"/>
              </a:rPr>
              <a:t>3-TOOL UNIFICATION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19250" y="2648247"/>
            <a:ext cx="2828925" cy="173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1050" i="0" u="none">
                <a:solidFill>
                  <a:srgbClr val="94A3B8"/>
                </a:solidFill>
                <a:latin typeface="Inter SemiBold"/>
              </a:rPr>
              <a:t>Eliminates portal hopping across scanners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10350" y="2515790"/>
            <a:ext cx="228600" cy="2286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124700" y="2438697"/>
            <a:ext cx="30099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b="0" sz="1500" i="0" u="none">
                <a:solidFill>
                  <a:srgbClr val="38BDF8"/>
                </a:solidFill>
                <a:latin typeface="Plus Jakarta Sans Black"/>
              </a:rPr>
              <a:t>RELEASE DRILL-DOWN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24700" y="2648247"/>
            <a:ext cx="3009900" cy="173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1050" i="0" u="none">
                <a:solidFill>
                  <a:srgbClr val="94A3B8"/>
                </a:solidFill>
                <a:latin typeface="Inter SemiBold"/>
              </a:rPr>
              <a:t>No more searching through raw pipeline logs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76325" y="4310657"/>
            <a:ext cx="285750" cy="2286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619250" y="4233564"/>
            <a:ext cx="298132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b="0" sz="1500" i="0" u="none">
                <a:solidFill>
                  <a:srgbClr val="38BDF8"/>
                </a:solidFill>
                <a:latin typeface="Plus Jakarta Sans Black"/>
              </a:rPr>
              <a:t>ARTIFACTORY-APPROVED FIXES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19250" y="4443114"/>
            <a:ext cx="2981325" cy="173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1050" i="0" u="none">
                <a:solidFill>
                  <a:srgbClr val="94A3B8"/>
                </a:solidFill>
                <a:latin typeface="Inter SemiBold"/>
              </a:rPr>
              <a:t>Replaces raw CVE noise with trusted fixes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81775" y="4310657"/>
            <a:ext cx="285750" cy="2286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124700" y="4233564"/>
            <a:ext cx="317182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b="0" sz="1500" i="0" u="none">
                <a:solidFill>
                  <a:srgbClr val="38BDF8"/>
                </a:solidFill>
                <a:latin typeface="Plus Jakarta Sans Black"/>
              </a:rPr>
              <a:t>AUTO TICKETS &amp; PR GENERATION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24700" y="4443114"/>
            <a:ext cx="3171825" cy="173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1050" i="0" u="none">
                <a:solidFill>
                  <a:srgbClr val="94A3B8"/>
                </a:solidFill>
                <a:latin typeface="Inter SemiBold"/>
              </a:rPr>
              <a:t>Eliminates manual chasing between RMs &amp; Devs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1372790"/>
            <a:ext cx="1136142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FFFFFF"/>
                </a:solidFill>
                <a:latin typeface="Plus Jakarta Sans ExtraBold"/>
              </a:rPr>
              <a:t>What We </a:t>
            </a:r>
            <a:r>
              <a:rPr b="0" sz="3000" i="0" u="none">
                <a:solidFill>
                  <a:srgbClr val="38BDF8"/>
                </a:solidFill>
                <a:latin typeface="Plus Jakarta Sans ExtraBold"/>
              </a:rPr>
              <a:t>Fix &amp; Automate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
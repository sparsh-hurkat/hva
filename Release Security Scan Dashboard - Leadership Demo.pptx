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embeddedFontLst>
    <p:embeddedFont>
      <p:font typeface="Plus Jakarta Sans ExtraBold"/>
      <p:bold r:id="rId26"/>
      <p:boldItalic r:id="rId27"/>
    </p:embeddedFont>
    <p:embeddedFont>
      <p:font typeface="Inter SemiBold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Plus Jakarta Sans"/>
      <p:regular r:id="rId36"/>
      <p:bold r:id="rId37"/>
      <p:italic r:id="rId38"/>
      <p:boldItalic r:id="rId39"/>
    </p:embeddedFont>
    <p:embeddedFont>
      <p:font typeface="Inter ExtraBold"/>
      <p:bold r:id="rId40"/>
      <p:boldItalic r:id="rId41"/>
    </p:embeddedFont>
    <p:embeddedFont>
      <p:font typeface="Inter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518A1B-3B6A-46EE-82BC-7597A21240EF}">
  <a:tblStyle styleId="{E0518A1B-3B6A-46EE-82BC-7597A21240E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ExtraBold-bold.fntdata"/><Relationship Id="rId20" Type="http://schemas.openxmlformats.org/officeDocument/2006/relationships/slide" Target="slides/slide14.xml"/><Relationship Id="rId42" Type="http://schemas.openxmlformats.org/officeDocument/2006/relationships/font" Target="fonts/InterMedium-regular.fntdata"/><Relationship Id="rId41" Type="http://schemas.openxmlformats.org/officeDocument/2006/relationships/font" Target="fonts/InterExtraBold-boldItalic.fntdata"/><Relationship Id="rId22" Type="http://schemas.openxmlformats.org/officeDocument/2006/relationships/slide" Target="slides/slide16.xml"/><Relationship Id="rId44" Type="http://schemas.openxmlformats.org/officeDocument/2006/relationships/font" Target="fonts/InterMedium-italic.fntdata"/><Relationship Id="rId21" Type="http://schemas.openxmlformats.org/officeDocument/2006/relationships/slide" Target="slides/slide15.xml"/><Relationship Id="rId43" Type="http://schemas.openxmlformats.org/officeDocument/2006/relationships/font" Target="fonts/InterMedium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Inter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ExtraBold-bold.fntdata"/><Relationship Id="rId25" Type="http://schemas.openxmlformats.org/officeDocument/2006/relationships/slide" Target="slides/slide19.xml"/><Relationship Id="rId28" Type="http://schemas.openxmlformats.org/officeDocument/2006/relationships/font" Target="fonts/InterSemiBold-regular.fntdata"/><Relationship Id="rId27" Type="http://schemas.openxmlformats.org/officeDocument/2006/relationships/font" Target="fonts/PlusJakartaSans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boldItalic.fntdata"/><Relationship Id="rId30" Type="http://schemas.openxmlformats.org/officeDocument/2006/relationships/font" Target="fonts/InterSemiBold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PlusJakartaSans-bold.fntdata"/><Relationship Id="rId14" Type="http://schemas.openxmlformats.org/officeDocument/2006/relationships/slide" Target="slides/slide8.xml"/><Relationship Id="rId36" Type="http://schemas.openxmlformats.org/officeDocument/2006/relationships/font" Target="fonts/PlusJakartaSans-regular.fntdata"/><Relationship Id="rId17" Type="http://schemas.openxmlformats.org/officeDocument/2006/relationships/slide" Target="slides/slide11.xml"/><Relationship Id="rId39" Type="http://schemas.openxmlformats.org/officeDocument/2006/relationships/font" Target="fonts/PlusJakartaSans-boldItalic.fntdata"/><Relationship Id="rId16" Type="http://schemas.openxmlformats.org/officeDocument/2006/relationships/slide" Target="slides/slide10.xml"/><Relationship Id="rId38" Type="http://schemas.openxmlformats.org/officeDocument/2006/relationships/font" Target="fonts/PlusJakartaSans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2.png"/><Relationship Id="rId13" Type="http://schemas.openxmlformats.org/officeDocument/2006/relationships/image" Target="../media/image1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.png"/><Relationship Id="rId15" Type="http://schemas.openxmlformats.org/officeDocument/2006/relationships/image" Target="../media/image12.png"/><Relationship Id="rId1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6.png"/><Relationship Id="rId13" Type="http://schemas.openxmlformats.org/officeDocument/2006/relationships/image" Target="../media/image23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9" Type="http://schemas.openxmlformats.org/officeDocument/2006/relationships/image" Target="../media/image1.png"/><Relationship Id="rId15" Type="http://schemas.openxmlformats.org/officeDocument/2006/relationships/image" Target="../media/image18.png"/><Relationship Id="rId14" Type="http://schemas.openxmlformats.org/officeDocument/2006/relationships/image" Target="../media/image20.png"/><Relationship Id="rId17" Type="http://schemas.openxmlformats.org/officeDocument/2006/relationships/image" Target="../media/image12.png"/><Relationship Id="rId16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21.png"/><Relationship Id="rId8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9" Type="http://schemas.openxmlformats.org/officeDocument/2006/relationships/image" Target="../media/image12.png"/><Relationship Id="rId5" Type="http://schemas.openxmlformats.org/officeDocument/2006/relationships/image" Target="../media/image27.png"/><Relationship Id="rId6" Type="http://schemas.openxmlformats.org/officeDocument/2006/relationships/image" Target="../media/image30.png"/><Relationship Id="rId7" Type="http://schemas.openxmlformats.org/officeDocument/2006/relationships/image" Target="../media/image1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1.png"/><Relationship Id="rId7" Type="http://schemas.openxmlformats.org/officeDocument/2006/relationships/image" Target="../media/image28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30.png"/><Relationship Id="rId13" Type="http://schemas.openxmlformats.org/officeDocument/2006/relationships/image" Target="../media/image52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34.png"/><Relationship Id="rId9" Type="http://schemas.openxmlformats.org/officeDocument/2006/relationships/image" Target="../media/image35.png"/><Relationship Id="rId15" Type="http://schemas.openxmlformats.org/officeDocument/2006/relationships/image" Target="../media/image22.png"/><Relationship Id="rId14" Type="http://schemas.openxmlformats.org/officeDocument/2006/relationships/image" Target="../media/image12.png"/><Relationship Id="rId17" Type="http://schemas.openxmlformats.org/officeDocument/2006/relationships/image" Target="../media/image38.png"/><Relationship Id="rId16" Type="http://schemas.openxmlformats.org/officeDocument/2006/relationships/image" Target="../media/image42.png"/><Relationship Id="rId5" Type="http://schemas.openxmlformats.org/officeDocument/2006/relationships/image" Target="../media/image37.png"/><Relationship Id="rId6" Type="http://schemas.openxmlformats.org/officeDocument/2006/relationships/image" Target="../media/image29.png"/><Relationship Id="rId7" Type="http://schemas.openxmlformats.org/officeDocument/2006/relationships/image" Target="../media/image36.png"/><Relationship Id="rId8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png"/><Relationship Id="rId10" Type="http://schemas.openxmlformats.org/officeDocument/2006/relationships/image" Target="../media/image40.png"/><Relationship Id="rId13" Type="http://schemas.openxmlformats.org/officeDocument/2006/relationships/image" Target="../media/image12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9" Type="http://schemas.openxmlformats.org/officeDocument/2006/relationships/image" Target="../media/image44.png"/><Relationship Id="rId5" Type="http://schemas.openxmlformats.org/officeDocument/2006/relationships/image" Target="../media/image1.png"/><Relationship Id="rId6" Type="http://schemas.openxmlformats.org/officeDocument/2006/relationships/image" Target="../media/image46.png"/><Relationship Id="rId7" Type="http://schemas.openxmlformats.org/officeDocument/2006/relationships/image" Target="../media/image39.png"/><Relationship Id="rId8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2.png"/><Relationship Id="rId11" Type="http://schemas.openxmlformats.org/officeDocument/2006/relationships/image" Target="../media/image1.png"/><Relationship Id="rId10" Type="http://schemas.openxmlformats.org/officeDocument/2006/relationships/image" Target="../media/image30.png"/><Relationship Id="rId13" Type="http://schemas.openxmlformats.org/officeDocument/2006/relationships/image" Target="../media/image56.png"/><Relationship Id="rId1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47.png"/><Relationship Id="rId9" Type="http://schemas.openxmlformats.org/officeDocument/2006/relationships/image" Target="../media/image53.png"/><Relationship Id="rId15" Type="http://schemas.openxmlformats.org/officeDocument/2006/relationships/image" Target="../media/image99.png"/><Relationship Id="rId14" Type="http://schemas.openxmlformats.org/officeDocument/2006/relationships/image" Target="../media/image64.png"/><Relationship Id="rId17" Type="http://schemas.openxmlformats.org/officeDocument/2006/relationships/image" Target="../media/image54.png"/><Relationship Id="rId16" Type="http://schemas.openxmlformats.org/officeDocument/2006/relationships/image" Target="../media/image65.png"/><Relationship Id="rId5" Type="http://schemas.openxmlformats.org/officeDocument/2006/relationships/image" Target="../media/image49.png"/><Relationship Id="rId19" Type="http://schemas.openxmlformats.org/officeDocument/2006/relationships/image" Target="../media/image58.png"/><Relationship Id="rId6" Type="http://schemas.openxmlformats.org/officeDocument/2006/relationships/image" Target="../media/image50.png"/><Relationship Id="rId18" Type="http://schemas.openxmlformats.org/officeDocument/2006/relationships/image" Target="../media/image61.png"/><Relationship Id="rId7" Type="http://schemas.openxmlformats.org/officeDocument/2006/relationships/image" Target="../media/image48.png"/><Relationship Id="rId8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7.png"/><Relationship Id="rId9" Type="http://schemas.openxmlformats.org/officeDocument/2006/relationships/image" Target="../media/image22.png"/><Relationship Id="rId5" Type="http://schemas.openxmlformats.org/officeDocument/2006/relationships/image" Target="../media/image30.png"/><Relationship Id="rId6" Type="http://schemas.openxmlformats.org/officeDocument/2006/relationships/image" Target="../media/image1.png"/><Relationship Id="rId7" Type="http://schemas.openxmlformats.org/officeDocument/2006/relationships/image" Target="../media/image68.png"/><Relationship Id="rId8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3.png"/><Relationship Id="rId4" Type="http://schemas.openxmlformats.org/officeDocument/2006/relationships/image" Target="../media/image30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59.png"/><Relationship Id="rId9" Type="http://schemas.openxmlformats.org/officeDocument/2006/relationships/image" Target="../media/image12.png"/><Relationship Id="rId5" Type="http://schemas.openxmlformats.org/officeDocument/2006/relationships/image" Target="../media/image30.png"/><Relationship Id="rId6" Type="http://schemas.openxmlformats.org/officeDocument/2006/relationships/image" Target="../media/image1.png"/><Relationship Id="rId7" Type="http://schemas.openxmlformats.org/officeDocument/2006/relationships/image" Target="../media/image60.png"/><Relationship Id="rId8" Type="http://schemas.openxmlformats.org/officeDocument/2006/relationships/image" Target="../media/image6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3.png"/><Relationship Id="rId4" Type="http://schemas.openxmlformats.org/officeDocument/2006/relationships/image" Target="../media/image30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1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Relationship Id="rId5" Type="http://schemas.openxmlformats.org/officeDocument/2006/relationships/image" Target="../media/image69.png"/><Relationship Id="rId6" Type="http://schemas.openxmlformats.org/officeDocument/2006/relationships/image" Target="../media/image73.png"/><Relationship Id="rId7" Type="http://schemas.openxmlformats.org/officeDocument/2006/relationships/image" Target="../media/image30.png"/><Relationship Id="rId8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7.png"/><Relationship Id="rId10" Type="http://schemas.openxmlformats.org/officeDocument/2006/relationships/image" Target="../media/image89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72.png"/><Relationship Id="rId9" Type="http://schemas.openxmlformats.org/officeDocument/2006/relationships/image" Target="../media/image74.png"/><Relationship Id="rId5" Type="http://schemas.openxmlformats.org/officeDocument/2006/relationships/image" Target="../media/image30.png"/><Relationship Id="rId6" Type="http://schemas.openxmlformats.org/officeDocument/2006/relationships/image" Target="../media/image1.png"/><Relationship Id="rId7" Type="http://schemas.openxmlformats.org/officeDocument/2006/relationships/image" Target="../media/image81.png"/><Relationship Id="rId8" Type="http://schemas.openxmlformats.org/officeDocument/2006/relationships/image" Target="../media/image71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76.png"/><Relationship Id="rId10" Type="http://schemas.openxmlformats.org/officeDocument/2006/relationships/image" Target="../media/image78.png"/><Relationship Id="rId13" Type="http://schemas.openxmlformats.org/officeDocument/2006/relationships/image" Target="../media/image75.png"/><Relationship Id="rId1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98.png"/><Relationship Id="rId9" Type="http://schemas.openxmlformats.org/officeDocument/2006/relationships/image" Target="../media/image94.png"/><Relationship Id="rId15" Type="http://schemas.openxmlformats.org/officeDocument/2006/relationships/image" Target="../media/image12.png"/><Relationship Id="rId14" Type="http://schemas.openxmlformats.org/officeDocument/2006/relationships/image" Target="../media/image80.png"/><Relationship Id="rId5" Type="http://schemas.openxmlformats.org/officeDocument/2006/relationships/image" Target="../media/image30.png"/><Relationship Id="rId6" Type="http://schemas.openxmlformats.org/officeDocument/2006/relationships/image" Target="../media/image1.png"/><Relationship Id="rId7" Type="http://schemas.openxmlformats.org/officeDocument/2006/relationships/image" Target="../media/image79.png"/><Relationship Id="rId8" Type="http://schemas.openxmlformats.org/officeDocument/2006/relationships/image" Target="../media/image82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90.png"/><Relationship Id="rId10" Type="http://schemas.openxmlformats.org/officeDocument/2006/relationships/image" Target="../media/image88.png"/><Relationship Id="rId13" Type="http://schemas.openxmlformats.org/officeDocument/2006/relationships/image" Target="../media/image92.png"/><Relationship Id="rId12" Type="http://schemas.openxmlformats.org/officeDocument/2006/relationships/image" Target="../media/image9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86.png"/><Relationship Id="rId9" Type="http://schemas.openxmlformats.org/officeDocument/2006/relationships/image" Target="../media/image84.png"/><Relationship Id="rId15" Type="http://schemas.openxmlformats.org/officeDocument/2006/relationships/image" Target="../media/image12.png"/><Relationship Id="rId14" Type="http://schemas.openxmlformats.org/officeDocument/2006/relationships/image" Target="../media/image93.png"/><Relationship Id="rId5" Type="http://schemas.openxmlformats.org/officeDocument/2006/relationships/image" Target="../media/image83.png"/><Relationship Id="rId6" Type="http://schemas.openxmlformats.org/officeDocument/2006/relationships/image" Target="../media/image85.png"/><Relationship Id="rId7" Type="http://schemas.openxmlformats.org/officeDocument/2006/relationships/image" Target="../media/image30.png"/><Relationship Id="rId8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png"/><Relationship Id="rId4" Type="http://schemas.openxmlformats.org/officeDocument/2006/relationships/image" Target="../media/image4.png"/><Relationship Id="rId9" Type="http://schemas.openxmlformats.org/officeDocument/2006/relationships/image" Target="../media/image96.png"/><Relationship Id="rId5" Type="http://schemas.openxmlformats.org/officeDocument/2006/relationships/image" Target="../media/image30.png"/><Relationship Id="rId6" Type="http://schemas.openxmlformats.org/officeDocument/2006/relationships/image" Target="../media/image1.png"/><Relationship Id="rId7" Type="http://schemas.openxmlformats.org/officeDocument/2006/relationships/image" Target="../media/image97.png"/><Relationship Id="rId8" Type="http://schemas.openxmlformats.org/officeDocument/2006/relationships/image" Target="../media/image9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9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100.png"/><Relationship Id="rId7" Type="http://schemas.openxmlformats.org/officeDocument/2006/relationships/image" Target="../media/image103.png"/><Relationship Id="rId8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-9525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1428750"/>
            <a:ext cx="41148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794569"/>
            <a:ext cx="2524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730055"/>
            <a:ext cx="61722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762000" y="2213669"/>
            <a:ext cx="6480810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Release Security Scan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0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Dashboard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24725" y="1438275"/>
            <a:ext cx="409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1028700" y="3634680"/>
            <a:ext cx="59055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One place to see every release, every vulnerability, every fix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028700" y="4006155"/>
            <a:ext cx="5905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pipelines integration with automatic Azure DevOps mappings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62000" y="4882455"/>
            <a:ext cx="15335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Presentation Team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2486025" y="4882455"/>
            <a:ext cx="9048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July 2026</a:t>
            </a:r>
            <a:endParaRPr/>
          </a:p>
        </p:txBody>
      </p:sp>
      <p:pic>
        <p:nvPicPr>
          <p:cNvPr descr="image.png" id="98" name="Google Shape;98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2000" y="3658492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2000" y="490150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486025" y="4901505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62000" y="413474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-9525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286000"/>
            <a:ext cx="24955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86150" y="2286000"/>
            <a:ext cx="24955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0300" y="2286000"/>
            <a:ext cx="2495550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34450" y="2286000"/>
            <a:ext cx="249555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Agenda: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Overview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25812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1057275" y="33051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The Problem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057275" y="3724275"/>
            <a:ext cx="19050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Understanding current release security bottlenecks, tool sprawl, and compliance risks across multiple platforms today.</a:t>
            </a:r>
            <a:endParaRPr/>
          </a:p>
        </p:txBody>
      </p:sp>
      <p:pic>
        <p:nvPicPr>
          <p:cNvPr descr="image.png" id="120" name="Google Shape;12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81425" y="25812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3781425" y="33051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What We Built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3781425" y="3724275"/>
            <a:ext cx="1905000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orchestrator engine bringing ADO, Mend, Fortify and Wiz telemetry under a single pane of glass with actionable summaries.</a:t>
            </a:r>
            <a:endParaRPr/>
          </a:p>
        </p:txBody>
      </p:sp>
      <p:pic>
        <p:nvPicPr>
          <p:cNvPr descr="image.png" id="123" name="Google Shape;123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05575" y="25812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6505575" y="33051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Live Demo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505575" y="3724275"/>
            <a:ext cx="19050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Interactive walkthrough of the orchestrator pipeline, drilling into severe vulnerabilities and showcasing automated remediations.</a:t>
            </a:r>
            <a:endParaRPr/>
          </a:p>
        </p:txBody>
      </p:sp>
      <p:pic>
        <p:nvPicPr>
          <p:cNvPr descr="image.png" id="126" name="Google Shape;126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29725" y="25812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9229725" y="3305175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Impact &amp; Next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229725" y="3724275"/>
            <a:ext cx="1905000" cy="1071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pilot results, quantified time-to-remediate improvement, and integration rollout timelines for enterprise readiness.</a:t>
            </a:r>
            <a:endParaRPr/>
          </a:p>
        </p:txBody>
      </p:sp>
      <p:pic>
        <p:nvPicPr>
          <p:cNvPr descr="image.png" id="129" name="Google Shape;129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90625" y="27146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895725" y="27146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00825" y="271462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363075" y="27146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-95250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85962"/>
            <a:ext cx="50958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Problem: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Fragmented Sprawl</a:t>
            </a:r>
            <a:endParaRPr/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43650" y="1995487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1190625" y="2452687"/>
            <a:ext cx="4667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Every release touches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multiple repos, builds, and scanners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190625" y="3176587"/>
            <a:ext cx="4667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Mend, Fortify, and Wiz each require their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own unique logins, dashboards, and format expectations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190625" y="3900487"/>
            <a:ext cx="4667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single unified view ties a CVE ID vulnerability directly back to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which specific release pipeline it blocks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1190625" y="4624387"/>
            <a:ext cx="4667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Release readiness assessment is manually verified by </a:t>
            </a:r>
            <a:r>
              <a:rPr b="0" i="0" lang="en-US" sz="13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cross-checking browser tabs</a:t>
            </a:r>
            <a:endParaRPr/>
          </a:p>
        </p:txBody>
      </p:sp>
      <p:pic>
        <p:nvPicPr>
          <p:cNvPr descr="image.png" id="150" name="Google Shape;15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24717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31956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39195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9625" y="4643437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0850" y="2209800"/>
            <a:ext cx="46291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Critical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Pain Points Today</a:t>
            </a:r>
            <a:endParaRPr/>
          </a:p>
        </p:txBody>
      </p:sp>
      <p:pic>
        <p:nvPicPr>
          <p:cNvPr descr="image.png" id="163" name="Google Shape;16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762000" y="2209800"/>
            <a:ext cx="5657850" cy="685800"/>
          </a:xfrm>
          <a:prstGeom prst="roundRect">
            <a:avLst>
              <a:gd fmla="val 16666" name="adj"/>
            </a:avLst>
          </a:prstGeom>
          <a:solidFill>
            <a:srgbClr val="FFF5F5"/>
          </a:solidFill>
          <a:ln cap="flat" cmpd="sng" w="9525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1238250" y="2352675"/>
            <a:ext cx="4991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Manual &amp; slow:</a:t>
            </a:r>
            <a:r>
              <a:rPr b="0" i="0" lang="en-US" sz="120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Checking 3 tools per repo, per build, per release blocks engineering agility.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762000" y="3038475"/>
            <a:ext cx="5657850" cy="685800"/>
          </a:xfrm>
          <a:prstGeom prst="roundRect">
            <a:avLst>
              <a:gd fmla="val 16666" name="adj"/>
            </a:avLst>
          </a:prstGeom>
          <a:solidFill>
            <a:srgbClr val="FFF5F5"/>
          </a:solidFill>
          <a:ln cap="flat" cmpd="sng" w="9525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238250" y="3181350"/>
            <a:ext cx="4991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Error-prone:</a:t>
            </a:r>
            <a:r>
              <a:rPr b="0" i="0" lang="en-US" sz="120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Critical, high-severity CVE threats can be easily missed inside long lists of raw scanner noise.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762000" y="3867150"/>
            <a:ext cx="5657850" cy="685800"/>
          </a:xfrm>
          <a:prstGeom prst="roundRect">
            <a:avLst>
              <a:gd fmla="val 16666" name="adj"/>
            </a:avLst>
          </a:prstGeom>
          <a:solidFill>
            <a:srgbClr val="FFF5F5"/>
          </a:solidFill>
          <a:ln cap="flat" cmpd="sng" w="9525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238250" y="4010025"/>
            <a:ext cx="4991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Lack of Context:</a:t>
            </a:r>
            <a:r>
              <a:rPr b="0" i="0" lang="en-US" sz="120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A raw CVE ID doesn't tell release managers "is this actually safe to ship?"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762000" y="4695825"/>
            <a:ext cx="5657850" cy="685800"/>
          </a:xfrm>
          <a:prstGeom prst="roundRect">
            <a:avLst>
              <a:gd fmla="val 16666" name="adj"/>
            </a:avLst>
          </a:prstGeom>
          <a:solidFill>
            <a:srgbClr val="FFF5F5"/>
          </a:solidFill>
          <a:ln cap="flat" cmpd="sng" w="9525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238250" y="4838700"/>
            <a:ext cx="4991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No Ownership Path:</a:t>
            </a:r>
            <a:r>
              <a:rPr b="0" i="0" lang="en-US" sz="1200" u="none" cap="none" strike="noStrik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 Identifying a vulnerability does not clarify who or how to implement a fix.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7143750" y="3094732"/>
            <a:ext cx="40005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"We spent 4 hours on calls last Wednesday cross-checking Mend and Wiz logs trying to decide if we could safely push our major core microservices patch." 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7143750" y="4334767"/>
            <a:ext cx="4000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— Lead Release Operations Manager</a:t>
            </a:r>
            <a:endParaRPr/>
          </a:p>
        </p:txBody>
      </p:sp>
      <p:pic>
        <p:nvPicPr>
          <p:cNvPr descr="image.png" id="175" name="Google Shape;17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450" y="236220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/>
          <p:nvPr/>
        </p:nvSpPr>
        <p:spPr>
          <a:xfrm>
            <a:off x="762000" y="2886075"/>
            <a:ext cx="5657850" cy="9525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762000" y="3714750"/>
            <a:ext cx="5657850" cy="9525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762000" y="4543425"/>
            <a:ext cx="5657850" cy="9525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450" y="31908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450" y="40195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3450" y="4848225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/>
          <p:nvPr/>
        </p:nvSpPr>
        <p:spPr>
          <a:xfrm>
            <a:off x="762000" y="5372100"/>
            <a:ext cx="5657850" cy="9525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106680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Releases Delayed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Last Quarter</a:t>
            </a:r>
            <a:endParaRPr/>
          </a:p>
        </p:txBody>
      </p:sp>
      <p:pic>
        <p:nvPicPr>
          <p:cNvPr descr="image.png" id="192" name="Google Shape;19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 txBox="1"/>
          <p:nvPr/>
        </p:nvSpPr>
        <p:spPr>
          <a:xfrm>
            <a:off x="762000" y="2338387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Analysis of manual security validation delays across four major product lines.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762000" y="4948237"/>
            <a:ext cx="10668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Security review remains a recurring bottleneck, consuming engineering hours on lookups rather than active remediations.</a:t>
            </a:r>
            <a:endParaRPr/>
          </a:p>
        </p:txBody>
      </p:sp>
      <p:pic>
        <p:nvPicPr>
          <p:cNvPr descr="image.png" id="196" name="Google Shape;19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5095875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04925"/>
            <a:ext cx="5095875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3200400"/>
            <a:ext cx="450532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0273" y="3486150"/>
            <a:ext cx="7239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86414" y="3486150"/>
            <a:ext cx="12858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4531" y="3486150"/>
            <a:ext cx="12287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Introducing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Dashboard</a:t>
            </a:r>
            <a:endParaRPr/>
          </a:p>
        </p:txBody>
      </p:sp>
      <p:pic>
        <p:nvPicPr>
          <p:cNvPr descr="image.png" id="210" name="Google Shape;21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7275" y="2512218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1057275" y="3274218"/>
            <a:ext cx="47305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One-Click Aggregation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629400" y="2638425"/>
            <a:ext cx="473059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Architectural Orchestration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6629400" y="4552950"/>
            <a:ext cx="45053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 the hood: Secure event listeners map your ADO pipelines to real-time scanning tools automatically.</a:t>
            </a:r>
            <a:endParaRPr/>
          </a:p>
        </p:txBody>
      </p:sp>
      <p:pic>
        <p:nvPicPr>
          <p:cNvPr descr="image.png" id="216" name="Google Shape;216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90625" y="2645568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1390650" y="3779043"/>
            <a:ext cx="417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Initiates security scan queries across all upcoming deployment packages automatically.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1390650" y="4321968"/>
            <a:ext cx="41719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 ingestion from </a:t>
            </a: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Azure DevOps Work Items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1390650" y="4650581"/>
            <a:ext cx="41719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Consolidates telemetry: </a:t>
            </a: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Mend (live), Fortify &amp; Wiz (onboarding)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20" name="Google Shape;220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04900" y="379809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04900" y="434101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04900" y="466963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744569" y="36337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342685" y="3633787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How It Works: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Level Workflow</a:t>
            </a:r>
            <a:endParaRPr/>
          </a:p>
        </p:txBody>
      </p:sp>
      <p:pic>
        <p:nvPicPr>
          <p:cNvPr descr="image.png" id="233" name="Google Shape;23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6735" y="28003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/>
          <p:nvPr/>
        </p:nvSpPr>
        <p:spPr>
          <a:xfrm>
            <a:off x="703328" y="3895725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Scan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762000" y="4229100"/>
            <a:ext cx="234687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Retrieves upcoming release work tickets and associated builds directly from Azure DevOps.</a:t>
            </a:r>
            <a:endParaRPr/>
          </a:p>
        </p:txBody>
      </p:sp>
      <p:pic>
        <p:nvPicPr>
          <p:cNvPr descr="image.png" id="238" name="Google Shape;23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0445" y="28003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3477037" y="3895725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Correlate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3535709" y="4229100"/>
            <a:ext cx="234687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Binds repos, deployment packages, and libraries automatically with static and container scan reports.</a:t>
            </a:r>
            <a:endParaRPr/>
          </a:p>
        </p:txBody>
      </p:sp>
      <p:pic>
        <p:nvPicPr>
          <p:cNvPr descr="image.png" id="241" name="Google Shape;24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54155" y="28003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9"/>
          <p:cNvSpPr txBox="1"/>
          <p:nvPr/>
        </p:nvSpPr>
        <p:spPr>
          <a:xfrm>
            <a:off x="6250747" y="3895725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Summarize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6309419" y="4229100"/>
            <a:ext cx="234687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Our secure AI LLM engine outputs plain-English explanations of findings, highlighting what blocks the build.</a:t>
            </a:r>
            <a:endParaRPr/>
          </a:p>
        </p:txBody>
      </p:sp>
      <p:pic>
        <p:nvPicPr>
          <p:cNvPr descr="image.png" id="244" name="Google Shape;24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27865" y="280035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9"/>
          <p:cNvSpPr txBox="1"/>
          <p:nvPr/>
        </p:nvSpPr>
        <p:spPr>
          <a:xfrm>
            <a:off x="9024457" y="3895725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Act</a:t>
            </a:r>
            <a:endParaRPr/>
          </a:p>
        </p:txBody>
      </p:sp>
      <p:sp>
        <p:nvSpPr>
          <p:cNvPr id="246" name="Google Shape;246;p19"/>
          <p:cNvSpPr txBox="1"/>
          <p:nvPr/>
        </p:nvSpPr>
        <p:spPr>
          <a:xfrm>
            <a:off x="9083129" y="4229100"/>
            <a:ext cx="234687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Engineers drill-down into specific modules and implement suggested code fixes via automated pull requests.</a:t>
            </a:r>
            <a:endParaRPr/>
          </a:p>
        </p:txBody>
      </p:sp>
      <p:pic>
        <p:nvPicPr>
          <p:cNvPr descr="image.png" id="247" name="Google Shape;24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56670" y="309562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30380" y="309562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123140" y="30956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/>
          <p:nvPr/>
        </p:nvSpPr>
        <p:spPr>
          <a:xfrm>
            <a:off x="1295400" y="3228975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1" name="Google Shape;251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69021"/>
            <a:ext cx="3429000" cy="1531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69021"/>
            <a:ext cx="3429000" cy="1531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0" y="2169021"/>
            <a:ext cx="3429000" cy="1531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890962"/>
            <a:ext cx="3429000" cy="1531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1500" y="3890962"/>
            <a:ext cx="3429000" cy="15314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01000" y="3890962"/>
            <a:ext cx="3429000" cy="153144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0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264" name="Google Shape;264;p20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Capabilities: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Matrix</a:t>
            </a:r>
            <a:endParaRPr/>
          </a:p>
        </p:txBody>
      </p:sp>
      <p:pic>
        <p:nvPicPr>
          <p:cNvPr descr="image.png" id="265" name="Google Shape;265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0"/>
          <p:cNvSpPr txBox="1"/>
          <p:nvPr/>
        </p:nvSpPr>
        <p:spPr>
          <a:xfrm>
            <a:off x="1000125" y="2902446"/>
            <a:ext cx="29527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See every upcoming production package release and its risk index at a single glance.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4619625" y="2902446"/>
            <a:ext cx="29527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Move fluidly from Release level down to specific Build commits, down to the vulnerability source line.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8239125" y="2902446"/>
            <a:ext cx="29527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Squelch minor alert noise. Automatically highlights elements that actively threaten release compliance.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1000125" y="4624387"/>
            <a:ext cx="2952750" cy="559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Plain-language, audit-ready summaries generated on the fly for non-technical stakeholders.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4619625" y="4624387"/>
            <a:ext cx="29527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Instantly search, order, and restrict views across huge lists of scan metrics.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8239125" y="4624387"/>
            <a:ext cx="29527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Auto-generate secure dependency bumps and code corrections instantly inline.</a:t>
            </a:r>
            <a:endParaRPr/>
          </a:p>
        </p:txBody>
      </p:sp>
      <p:pic>
        <p:nvPicPr>
          <p:cNvPr descr="image.png" id="273" name="Google Shape;273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0125" y="240714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 txBox="1"/>
          <p:nvPr/>
        </p:nvSpPr>
        <p:spPr>
          <a:xfrm>
            <a:off x="1495425" y="2488108"/>
            <a:ext cx="167020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Release Dashboard</a:t>
            </a:r>
            <a:endParaRPr/>
          </a:p>
        </p:txBody>
      </p:sp>
      <p:pic>
        <p:nvPicPr>
          <p:cNvPr descr="image.png" id="275" name="Google Shape;27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619625" y="240714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0"/>
          <p:cNvSpPr txBox="1"/>
          <p:nvPr/>
        </p:nvSpPr>
        <p:spPr>
          <a:xfrm>
            <a:off x="5114925" y="2488108"/>
            <a:ext cx="168021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3-Click Drill-down</a:t>
            </a:r>
            <a:endParaRPr/>
          </a:p>
        </p:txBody>
      </p:sp>
      <p:pic>
        <p:nvPicPr>
          <p:cNvPr descr="image.png" id="277" name="Google Shape;277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39125" y="240714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0"/>
          <p:cNvSpPr txBox="1"/>
          <p:nvPr/>
        </p:nvSpPr>
        <p:spPr>
          <a:xfrm>
            <a:off x="8734425" y="2488108"/>
            <a:ext cx="17102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Critical/High Focus</a:t>
            </a:r>
            <a:endParaRPr/>
          </a:p>
        </p:txBody>
      </p:sp>
      <p:pic>
        <p:nvPicPr>
          <p:cNvPr descr="image.png" id="279" name="Google Shape;279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0125" y="41290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0"/>
          <p:cNvSpPr txBox="1"/>
          <p:nvPr/>
        </p:nvSpPr>
        <p:spPr>
          <a:xfrm>
            <a:off x="1495425" y="4210050"/>
            <a:ext cx="196024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AI-Written Summaries</a:t>
            </a:r>
            <a:endParaRPr/>
          </a:p>
        </p:txBody>
      </p:sp>
      <p:pic>
        <p:nvPicPr>
          <p:cNvPr descr="image.png" id="281" name="Google Shape;281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19625" y="41290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0"/>
          <p:cNvSpPr txBox="1"/>
          <p:nvPr/>
        </p:nvSpPr>
        <p:spPr>
          <a:xfrm>
            <a:off x="5114925" y="4210050"/>
            <a:ext cx="139017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Filter</a:t>
            </a:r>
            <a:endParaRPr/>
          </a:p>
        </p:txBody>
      </p:sp>
      <p:pic>
        <p:nvPicPr>
          <p:cNvPr descr="image.png" id="283" name="Google Shape;283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239125" y="41290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 txBox="1"/>
          <p:nvPr/>
        </p:nvSpPr>
        <p:spPr>
          <a:xfrm>
            <a:off x="8734425" y="4210050"/>
            <a:ext cx="175021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AI-Suggested Fixes</a:t>
            </a:r>
            <a:endParaRPr/>
          </a:p>
        </p:txBody>
      </p:sp>
      <p:pic>
        <p:nvPicPr>
          <p:cNvPr descr="image.png" id="285" name="Google Shape;285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19187" y="2502396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714875" y="250239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334375" y="250239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71562" y="422433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714875" y="42243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334375" y="422433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6" name="Google Shape;2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85962"/>
            <a:ext cx="50958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1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Insights &amp; Reports</a:t>
            </a:r>
            <a:endParaRPr/>
          </a:p>
        </p:txBody>
      </p:sp>
      <p:pic>
        <p:nvPicPr>
          <p:cNvPr descr="image.png" id="300" name="Google Shape;3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43650" y="1995487"/>
            <a:ext cx="50768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1"/>
          <p:cNvSpPr txBox="1"/>
          <p:nvPr/>
        </p:nvSpPr>
        <p:spPr>
          <a:xfrm>
            <a:off x="1190625" y="2609850"/>
            <a:ext cx="4667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Every release and build package generates an </a:t>
            </a:r>
            <a:r>
              <a:rPr b="0" i="0" lang="en-US" sz="12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AI-composed natural language executive synopsis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1190625" y="3238500"/>
            <a:ext cx="4667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*"1 critical vulnerability found — a known RCE in a logging library. Recommend patching before this build ships."*</a:t>
            </a:r>
            <a:endParaRPr/>
          </a:p>
        </p:txBody>
      </p:sp>
      <p:sp>
        <p:nvSpPr>
          <p:cNvPr id="305" name="Google Shape;305;p21"/>
          <p:cNvSpPr txBox="1"/>
          <p:nvPr/>
        </p:nvSpPr>
        <p:spPr>
          <a:xfrm>
            <a:off x="1190625" y="3867150"/>
            <a:ext cx="4667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Eliminates the requirement for release managers to manually interpret cryptic scanning outputs.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1190625" y="4495800"/>
            <a:ext cx="466725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Engineered purposefully for </a:t>
            </a:r>
            <a:r>
              <a:rPr b="0" i="0" lang="en-US" sz="127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release managers, compliance auditors, and product owners</a:t>
            </a:r>
            <a:r>
              <a:rPr b="0" i="0" lang="en-US" sz="12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307" name="Google Shape;30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26289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32575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38862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9625" y="45148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2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pic>
        <p:nvPicPr>
          <p:cNvPr descr="image.png" id="318" name="Google Shape;3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 txBox="1"/>
          <p:nvPr/>
        </p:nvSpPr>
        <p:spPr>
          <a:xfrm>
            <a:off x="3095625" y="2877591"/>
            <a:ext cx="60007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🔴 LIVE DEMO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3238500" y="3738562"/>
            <a:ext cx="571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Part 1: The Interactive Dashboard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3238500" y="4252912"/>
            <a:ext cx="5715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will now tab out to the running environment. Watch for: Start a scan operation, Severity overview metrics, and 3-click issue drilldown.</a:t>
            </a:r>
            <a:endParaRPr/>
          </a:p>
        </p:txBody>
      </p:sp>
      <p:pic>
        <p:nvPicPr>
          <p:cNvPr descr="image.png" id="323" name="Google Shape;3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8" name="Google Shape;3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753100"/>
            <a:ext cx="53340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3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pic>
        <p:nvPicPr>
          <p:cNvPr descr="image.png" id="331" name="Google Shape;3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3"/>
          <p:cNvSpPr txBox="1"/>
          <p:nvPr/>
        </p:nvSpPr>
        <p:spPr>
          <a:xfrm>
            <a:off x="762000" y="571500"/>
            <a:ext cx="56007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AI-Suggested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Fixes</a:t>
            </a:r>
            <a:endParaRPr/>
          </a:p>
        </p:txBody>
      </p:sp>
      <p:pic>
        <p:nvPicPr>
          <p:cNvPr descr="image.png" id="334" name="Google Shape;33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3"/>
          <p:cNvSpPr txBox="1"/>
          <p:nvPr/>
        </p:nvSpPr>
        <p:spPr>
          <a:xfrm>
            <a:off x="762000" y="4610100"/>
            <a:ext cx="533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Remediation at the Speed of Code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1000125" y="4895850"/>
            <a:ext cx="5095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Click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"View fix"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directly inside the vulnerable path.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1000125" y="5172075"/>
            <a:ext cx="5095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Reviews code change side-by-side with before-and-after views.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1000125" y="5448300"/>
            <a:ext cx="50958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Single click automatically generates a Pull Request against Azure DevOps.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885825" y="5876925"/>
            <a:ext cx="1047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Development Note:</a:t>
            </a:r>
            <a:endParaRPr/>
          </a:p>
        </p:txBody>
      </p:sp>
      <p:pic>
        <p:nvPicPr>
          <p:cNvPr descr="image.png" id="340" name="Google Shape;34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91966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19588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47211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4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pic>
        <p:nvPicPr>
          <p:cNvPr descr="image.png" id="350" name="Google Shape;35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4"/>
          <p:cNvSpPr txBox="1"/>
          <p:nvPr/>
        </p:nvSpPr>
        <p:spPr>
          <a:xfrm>
            <a:off x="3095625" y="2877591"/>
            <a:ext cx="60007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🔴 LIVE DEMO</a:t>
            </a:r>
            <a:endParaRPr/>
          </a:p>
        </p:txBody>
      </p:sp>
      <p:sp>
        <p:nvSpPr>
          <p:cNvPr id="353" name="Google Shape;353;p24"/>
          <p:cNvSpPr txBox="1"/>
          <p:nvPr/>
        </p:nvSpPr>
        <p:spPr>
          <a:xfrm>
            <a:off x="3238500" y="3738562"/>
            <a:ext cx="571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Part 2: Fixing the Vulnerability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3238500" y="4252912"/>
            <a:ext cx="5715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Witnessing automated mitigation. Watch for: Code-level fix diff visualization, dependency resolution, and pull-request pipeline trigger.</a:t>
            </a:r>
            <a:endParaRPr/>
          </a:p>
        </p:txBody>
      </p:sp>
      <p:pic>
        <p:nvPicPr>
          <p:cNvPr descr="image.png" id="355" name="Google Shape;35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0" name="Google Shape;36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5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362" name="Google Shape;362;p25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New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Remediation Workflow</a:t>
            </a:r>
            <a:endParaRPr/>
          </a:p>
        </p:txBody>
      </p:sp>
      <p:pic>
        <p:nvPicPr>
          <p:cNvPr descr="image.png" id="363" name="Google Shape;3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5" name="Google Shape;365;p25"/>
          <p:cNvGraphicFramePr/>
          <p:nvPr/>
        </p:nvGraphicFramePr>
        <p:xfrm>
          <a:off x="762000" y="2295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{E0518A1B-3B6A-46EE-82BC-7597A21240EF}</a:tableStyleId>
              </a:tblPr>
              <a:tblGrid>
                <a:gridCol w="5334000"/>
                <a:gridCol w="5334000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Before Dashboard Rollout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After Dashboard Rollout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7F1D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 into 3+ disparate scanning portals for every release cycle.</a:t>
                      </a:r>
                      <a:endParaRPr/>
                    </a:p>
                  </a:txBody>
                  <a:tcPr marT="25400" marB="25400" marR="63500" marL="304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64E3B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 single, aggregated view in one core portal.</a:t>
                      </a:r>
                      <a:endParaRPr/>
                    </a:p>
                  </a:txBody>
                  <a:tcPr marT="25400" marB="25400" marR="63500" marL="323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EE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7F1D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Manually cross-reference Azure DevOps repos and active builds.</a:t>
                      </a:r>
                      <a:endParaRPr/>
                    </a:p>
                  </a:txBody>
                  <a:tcPr marT="25400" marB="25400" marR="63500" marL="304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64E3B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Automatic build correlation based on active pipeline hooks.</a:t>
                      </a:r>
                      <a:endParaRPr/>
                    </a:p>
                  </a:txBody>
                  <a:tcPr marT="25400" marB="25400" marR="63500" marL="323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EE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7F1D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Interfacing with hundreds of lines of complex raw CVE JSON data.</a:t>
                      </a:r>
                      <a:endParaRPr/>
                    </a:p>
                  </a:txBody>
                  <a:tcPr marT="25400" marB="25400" marR="63500" marL="304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64E3B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Clear, readable, actionable AI summaries.</a:t>
                      </a:r>
                      <a:endParaRPr/>
                    </a:p>
                  </a:txBody>
                  <a:tcPr marT="25400" marB="25400" marR="63500" marL="323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EE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7F1D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Hours spent calling, validating, and escalating to discover if fix exists.</a:t>
                      </a:r>
                      <a:endParaRPr/>
                    </a:p>
                  </a:txBody>
                  <a:tcPr marT="25400" marB="25400" marR="63500" marL="304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64E3B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Instant inline code diff suggestions ready to deploy.</a:t>
                      </a:r>
                      <a:endParaRPr/>
                    </a:p>
                  </a:txBody>
                  <a:tcPr marT="25400" marB="25400" marR="63500" marL="3238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EE7"/>
                    </a:solidFill>
                  </a:tcPr>
                </a:tc>
              </a:tr>
            </a:tbl>
          </a:graphicData>
        </a:graphic>
      </p:graphicFrame>
      <p:sp>
        <p:nvSpPr>
          <p:cNvPr id="366" name="Google Shape;366;p25"/>
          <p:cNvSpPr/>
          <p:nvPr/>
        </p:nvSpPr>
        <p:spPr>
          <a:xfrm>
            <a:off x="762000" y="27955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6096000" y="279558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762000" y="33004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6086475" y="2805112"/>
            <a:ext cx="9525" cy="5048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6096000" y="330041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762000" y="399573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6086475" y="3309937"/>
            <a:ext cx="9525" cy="6953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6096000" y="3995737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762000" y="469106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6086475" y="4005262"/>
            <a:ext cx="9525" cy="6953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6096000" y="4691062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6086475" y="4700587"/>
            <a:ext cx="9525" cy="69056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8" name="Google Shape;37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9362" y="4876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9" name="Google Shape;37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9362" y="29813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298132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9362" y="41814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418147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48768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9362" y="34861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348615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298132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9362" y="298132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348615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9362" y="34861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418147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9362" y="418147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0600" y="48768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29362" y="48768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9" name="Google Shape;3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10668000" cy="4981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838450"/>
            <a:ext cx="40767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867150"/>
            <a:ext cx="407670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6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404" name="Google Shape;404;p26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 &amp; Effort Saved: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Review</a:t>
            </a:r>
            <a:endParaRPr/>
          </a:p>
        </p:txBody>
      </p:sp>
      <p:pic>
        <p:nvPicPr>
          <p:cNvPr descr="image.png" id="405" name="Google Shape;40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6"/>
          <p:cNvSpPr txBox="1"/>
          <p:nvPr/>
        </p:nvSpPr>
        <p:spPr>
          <a:xfrm>
            <a:off x="914400" y="2990850"/>
            <a:ext cx="3771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65F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Remediation Time Saved</a:t>
            </a:r>
            <a:endParaRPr/>
          </a:p>
        </p:txBody>
      </p:sp>
      <p:sp>
        <p:nvSpPr>
          <p:cNvPr id="408" name="Google Shape;408;p26"/>
          <p:cNvSpPr txBox="1"/>
          <p:nvPr/>
        </p:nvSpPr>
        <p:spPr>
          <a:xfrm>
            <a:off x="914400" y="3200400"/>
            <a:ext cx="3771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5966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85% Decrease</a:t>
            </a:r>
            <a:endParaRPr/>
          </a:p>
        </p:txBody>
      </p:sp>
      <p:sp>
        <p:nvSpPr>
          <p:cNvPr id="409" name="Google Shape;409;p26"/>
          <p:cNvSpPr txBox="1"/>
          <p:nvPr/>
        </p:nvSpPr>
        <p:spPr>
          <a:xfrm>
            <a:off x="914400" y="4019550"/>
            <a:ext cx="37719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369A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Reclaimed Capacity</a:t>
            </a:r>
            <a:endParaRPr/>
          </a:p>
        </p:txBody>
      </p:sp>
      <p:sp>
        <p:nvSpPr>
          <p:cNvPr id="410" name="Google Shape;410;p26"/>
          <p:cNvSpPr txBox="1"/>
          <p:nvPr/>
        </p:nvSpPr>
        <p:spPr>
          <a:xfrm>
            <a:off x="914400" y="4229100"/>
            <a:ext cx="3771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284C7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120+ Eng Hrs/Qtr</a:t>
            </a:r>
            <a:endParaRPr/>
          </a:p>
        </p:txBody>
      </p:sp>
      <p:pic>
        <p:nvPicPr>
          <p:cNvPr descr="image.png" id="411" name="Google Shape;411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7" name="Google Shape;41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3712" y="2886075"/>
            <a:ext cx="4586287" cy="181927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7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 Security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 Integration Coverage</a:t>
            </a:r>
            <a:endParaRPr/>
          </a:p>
        </p:txBody>
      </p:sp>
      <p:pic>
        <p:nvPicPr>
          <p:cNvPr descr="image.png" id="420" name="Google Shape;42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1" name="Google Shape;42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2" name="Google Shape;422;p27"/>
          <p:cNvGraphicFramePr/>
          <p:nvPr/>
        </p:nvGraphicFramePr>
        <p:xfrm>
          <a:off x="762000" y="2838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{E0518A1B-3B6A-46EE-82BC-7597A21240EF}</a:tableStyleId>
              </a:tblPr>
              <a:tblGrid>
                <a:gridCol w="2522350"/>
                <a:gridCol w="3083125"/>
              </a:tblGrid>
              <a:tr h="50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Scanner Tool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Pipeline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0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Mend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4785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LIVE &amp; PRODUCTION READY</a:t>
                      </a:r>
                      <a:endParaRPr/>
                    </a:p>
                  </a:txBody>
                  <a:tcPr marT="25400" marB="25400" marR="63500" marL="2381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Fortify Static Scan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IN PROGRESS INTEGRATION</a:t>
                      </a:r>
                      <a:endParaRPr/>
                    </a:p>
                  </a:txBody>
                  <a:tcPr marT="25400" marB="25400" marR="63500" marL="209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Wiz Container Scan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B4530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IN PROGRESS INTEGRATION</a:t>
                      </a:r>
                      <a:endParaRPr/>
                    </a:p>
                  </a:txBody>
                  <a:tcPr marT="25400" marB="25400" marR="63500" marL="2095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3" name="Google Shape;423;p27"/>
          <p:cNvSpPr txBox="1"/>
          <p:nvPr/>
        </p:nvSpPr>
        <p:spPr>
          <a:xfrm>
            <a:off x="7377112" y="3181350"/>
            <a:ext cx="39454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Pluggable Design</a:t>
            </a:r>
            <a:endParaRPr/>
          </a:p>
        </p:txBody>
      </p:sp>
      <p:sp>
        <p:nvSpPr>
          <p:cNvPr id="424" name="Google Shape;424;p27"/>
          <p:cNvSpPr txBox="1"/>
          <p:nvPr/>
        </p:nvSpPr>
        <p:spPr>
          <a:xfrm>
            <a:off x="7138987" y="3552825"/>
            <a:ext cx="3995737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security scan dashboard architecture utilizes standard adapter patterns. Connecting a brand new code/container static analyzer requires a small, isolated change with absolutely zero downstream pipeline impact.</a:t>
            </a:r>
            <a:endParaRPr/>
          </a:p>
        </p:txBody>
      </p:sp>
      <p:sp>
        <p:nvSpPr>
          <p:cNvPr id="425" name="Google Shape;425;p27"/>
          <p:cNvSpPr/>
          <p:nvPr/>
        </p:nvSpPr>
        <p:spPr>
          <a:xfrm>
            <a:off x="762000" y="3328987"/>
            <a:ext cx="25223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3284339" y="3328987"/>
            <a:ext cx="3083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27" name="Google Shape;42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8987" y="3200400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7"/>
          <p:cNvSpPr/>
          <p:nvPr/>
        </p:nvSpPr>
        <p:spPr>
          <a:xfrm>
            <a:off x="762000" y="3833812"/>
            <a:ext cx="25223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3284339" y="3833812"/>
            <a:ext cx="3083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762000" y="4338637"/>
            <a:ext cx="25223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3284339" y="4338637"/>
            <a:ext cx="30831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2" name="Google Shape;432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12939" y="3486150"/>
            <a:ext cx="20574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12939" y="3990975"/>
            <a:ext cx="2047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512939" y="4495800"/>
            <a:ext cx="2047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27239" y="4552950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6" name="Google Shape;436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27239" y="4048125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7" name="Google Shape;437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27239" y="354330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8" name="Google Shape;438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27239" y="3543300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27239" y="4048125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27239" y="4552950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6" name="Google Shape;4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400" y="3205162"/>
            <a:ext cx="960120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8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449" name="Google Shape;449;p28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Roadmap: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What's Next</a:t>
            </a:r>
            <a:endParaRPr/>
          </a:p>
        </p:txBody>
      </p:sp>
      <p:pic>
        <p:nvPicPr>
          <p:cNvPr descr="image.png" id="450" name="Google Shape;45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06735" y="277653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8"/>
          <p:cNvSpPr txBox="1"/>
          <p:nvPr/>
        </p:nvSpPr>
        <p:spPr>
          <a:xfrm>
            <a:off x="703328" y="3871912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1</a:t>
            </a:r>
            <a:endParaRPr/>
          </a:p>
        </p:txBody>
      </p:sp>
      <p:sp>
        <p:nvSpPr>
          <p:cNvPr id="454" name="Google Shape;454;p28"/>
          <p:cNvSpPr txBox="1"/>
          <p:nvPr/>
        </p:nvSpPr>
        <p:spPr>
          <a:xfrm>
            <a:off x="762000" y="4205287"/>
            <a:ext cx="23468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Q3 2026</a:t>
            </a:r>
            <a:endParaRPr/>
          </a:p>
        </p:txBody>
      </p:sp>
      <p:sp>
        <p:nvSpPr>
          <p:cNvPr id="455" name="Google Shape;455;p28"/>
          <p:cNvSpPr txBox="1"/>
          <p:nvPr/>
        </p:nvSpPr>
        <p:spPr>
          <a:xfrm>
            <a:off x="762000" y="4548187"/>
            <a:ext cx="234687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Deploy Fortify and Wiz connector pipeline integrations into core environments.</a:t>
            </a:r>
            <a:endParaRPr/>
          </a:p>
        </p:txBody>
      </p:sp>
      <p:pic>
        <p:nvPicPr>
          <p:cNvPr descr="image.png" id="456" name="Google Shape;45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80445" y="277653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8"/>
          <p:cNvSpPr txBox="1"/>
          <p:nvPr/>
        </p:nvSpPr>
        <p:spPr>
          <a:xfrm>
            <a:off x="3477037" y="3871912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2</a:t>
            </a:r>
            <a:endParaRPr/>
          </a:p>
        </p:txBody>
      </p:sp>
      <p:sp>
        <p:nvSpPr>
          <p:cNvPr id="458" name="Google Shape;458;p28"/>
          <p:cNvSpPr txBox="1"/>
          <p:nvPr/>
        </p:nvSpPr>
        <p:spPr>
          <a:xfrm>
            <a:off x="3535709" y="4205287"/>
            <a:ext cx="23468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Q4 2026</a:t>
            </a:r>
            <a:endParaRPr/>
          </a:p>
        </p:txBody>
      </p:sp>
      <p:sp>
        <p:nvSpPr>
          <p:cNvPr id="459" name="Google Shape;459;p28"/>
          <p:cNvSpPr txBox="1"/>
          <p:nvPr/>
        </p:nvSpPr>
        <p:spPr>
          <a:xfrm>
            <a:off x="3535709" y="4548187"/>
            <a:ext cx="234687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Launch automated pull-request creation inside Azure DevOps Repos.</a:t>
            </a:r>
            <a:endParaRPr/>
          </a:p>
        </p:txBody>
      </p:sp>
      <p:pic>
        <p:nvPicPr>
          <p:cNvPr descr="image.png" id="460" name="Google Shape;460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54155" y="277653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28"/>
          <p:cNvSpPr txBox="1"/>
          <p:nvPr/>
        </p:nvSpPr>
        <p:spPr>
          <a:xfrm>
            <a:off x="6250747" y="3871912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3</a:t>
            </a:r>
            <a:endParaRPr/>
          </a:p>
        </p:txBody>
      </p:sp>
      <p:sp>
        <p:nvSpPr>
          <p:cNvPr id="462" name="Google Shape;462;p28"/>
          <p:cNvSpPr txBox="1"/>
          <p:nvPr/>
        </p:nvSpPr>
        <p:spPr>
          <a:xfrm>
            <a:off x="6309419" y="4205287"/>
            <a:ext cx="23468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Q1 2027</a:t>
            </a:r>
            <a:endParaRPr/>
          </a:p>
        </p:txBody>
      </p:sp>
      <p:sp>
        <p:nvSpPr>
          <p:cNvPr id="463" name="Google Shape;463;p28"/>
          <p:cNvSpPr txBox="1"/>
          <p:nvPr/>
        </p:nvSpPr>
        <p:spPr>
          <a:xfrm>
            <a:off x="6309419" y="4548187"/>
            <a:ext cx="234687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Install immediate Slack/Teams warning notifications for raw findings.</a:t>
            </a:r>
            <a:endParaRPr/>
          </a:p>
        </p:txBody>
      </p:sp>
      <p:pic>
        <p:nvPicPr>
          <p:cNvPr descr="image.png" id="464" name="Google Shape;464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27865" y="2776537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8"/>
          <p:cNvSpPr txBox="1"/>
          <p:nvPr/>
        </p:nvSpPr>
        <p:spPr>
          <a:xfrm>
            <a:off x="9024457" y="3871912"/>
            <a:ext cx="24642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Phase 4</a:t>
            </a:r>
            <a:endParaRPr/>
          </a:p>
        </p:txBody>
      </p:sp>
      <p:sp>
        <p:nvSpPr>
          <p:cNvPr id="466" name="Google Shape;466;p28"/>
          <p:cNvSpPr txBox="1"/>
          <p:nvPr/>
        </p:nvSpPr>
        <p:spPr>
          <a:xfrm>
            <a:off x="9083129" y="4205287"/>
            <a:ext cx="234687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Q2 2027</a:t>
            </a:r>
            <a:endParaRPr/>
          </a:p>
        </p:txBody>
      </p:sp>
      <p:sp>
        <p:nvSpPr>
          <p:cNvPr id="467" name="Google Shape;467;p28"/>
          <p:cNvSpPr txBox="1"/>
          <p:nvPr/>
        </p:nvSpPr>
        <p:spPr>
          <a:xfrm>
            <a:off x="9083129" y="4548187"/>
            <a:ext cx="234687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Release trend analytical models to measure systemic vulnerabilities over time.</a:t>
            </a:r>
            <a:endParaRPr/>
          </a:p>
        </p:txBody>
      </p:sp>
      <p:pic>
        <p:nvPicPr>
          <p:cNvPr descr="image.png" id="468" name="Google Shape;468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802010" y="30718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5720" y="30718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63717" y="307181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23140" y="30718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076450"/>
            <a:ext cx="3365450" cy="2405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076450"/>
            <a:ext cx="3365450" cy="2405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76450"/>
            <a:ext cx="3365450" cy="240506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9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482" name="Google Shape;482;p29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What We Need </a:t>
            </a:r>
            <a:r>
              <a:rPr b="1" i="0" lang="en-US" sz="28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From You</a:t>
            </a:r>
            <a:endParaRPr/>
          </a:p>
        </p:txBody>
      </p:sp>
      <p:pic>
        <p:nvPicPr>
          <p:cNvPr descr="image.png" id="483" name="Google Shape;483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4" name="Google Shape;484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29"/>
          <p:cNvSpPr txBox="1"/>
          <p:nvPr/>
        </p:nvSpPr>
        <p:spPr>
          <a:xfrm>
            <a:off x="762000" y="1590675"/>
            <a:ext cx="10668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successfully transition this platform from prototype to general corporate usage, we ask for support on three core pillars:</a:t>
            </a:r>
            <a:endParaRPr/>
          </a:p>
        </p:txBody>
      </p:sp>
      <p:pic>
        <p:nvPicPr>
          <p:cNvPr descr="image.png" id="486" name="Google Shape;486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57275" y="24003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9"/>
          <p:cNvSpPr txBox="1"/>
          <p:nvPr/>
        </p:nvSpPr>
        <p:spPr>
          <a:xfrm>
            <a:off x="1057275" y="3124200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Pilot Adopters</a:t>
            </a:r>
            <a:endParaRPr/>
          </a:p>
        </p:txBody>
      </p:sp>
      <p:sp>
        <p:nvSpPr>
          <p:cNvPr id="488" name="Google Shape;488;p29"/>
          <p:cNvSpPr txBox="1"/>
          <p:nvPr/>
        </p:nvSpPr>
        <p:spPr>
          <a:xfrm>
            <a:off x="1057275" y="3543300"/>
            <a:ext cx="27749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Nominate three core product groups to pilot the pipeline in active sprints starting next week.</a:t>
            </a:r>
            <a:endParaRPr/>
          </a:p>
        </p:txBody>
      </p:sp>
      <p:pic>
        <p:nvPicPr>
          <p:cNvPr descr="image.png" id="489" name="Google Shape;489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08475" y="24003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9"/>
          <p:cNvSpPr txBox="1"/>
          <p:nvPr/>
        </p:nvSpPr>
        <p:spPr>
          <a:xfrm>
            <a:off x="4708475" y="3124200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Prod Signoff</a:t>
            </a:r>
            <a:endParaRPr/>
          </a:p>
        </p:txBody>
      </p:sp>
      <p:sp>
        <p:nvSpPr>
          <p:cNvPr id="491" name="Google Shape;491;p29"/>
          <p:cNvSpPr txBox="1"/>
          <p:nvPr/>
        </p:nvSpPr>
        <p:spPr>
          <a:xfrm>
            <a:off x="4708475" y="3543300"/>
            <a:ext cx="27749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Support architectural confirmation for backend resources deployment in production cluster spaces.</a:t>
            </a:r>
            <a:endParaRPr/>
          </a:p>
        </p:txBody>
      </p:sp>
      <p:pic>
        <p:nvPicPr>
          <p:cNvPr descr="image.png" id="492" name="Google Shape;492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59675" y="24003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29"/>
          <p:cNvSpPr txBox="1"/>
          <p:nvPr/>
        </p:nvSpPr>
        <p:spPr>
          <a:xfrm>
            <a:off x="8359675" y="3124200"/>
            <a:ext cx="291364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Scan API Access</a:t>
            </a:r>
            <a:endParaRPr/>
          </a:p>
        </p:txBody>
      </p:sp>
      <p:sp>
        <p:nvSpPr>
          <p:cNvPr id="494" name="Google Shape;494;p29"/>
          <p:cNvSpPr txBox="1"/>
          <p:nvPr/>
        </p:nvSpPr>
        <p:spPr>
          <a:xfrm>
            <a:off x="8359675" y="3543300"/>
            <a:ext cx="27749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Secure executive budget authorization for Fortify and Wiz API connectivity license agreements.</a:t>
            </a:r>
            <a:endParaRPr/>
          </a:p>
        </p:txBody>
      </p:sp>
      <p:pic>
        <p:nvPicPr>
          <p:cNvPr descr="image.png" id="495" name="Google Shape;495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52525" y="25336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6" name="Google Shape;496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03725" y="25336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7" name="Google Shape;497;p2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493025" y="25336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2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9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3" name="Google Shape;5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4" name="Google Shape;50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4500" y="-9525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0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pic>
        <p:nvPicPr>
          <p:cNvPr descr="image.png" id="506" name="Google Shape;50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7" name="Google Shape;50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0"/>
          <p:cNvSpPr txBox="1"/>
          <p:nvPr/>
        </p:nvSpPr>
        <p:spPr>
          <a:xfrm>
            <a:off x="3045618" y="2956619"/>
            <a:ext cx="610076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Thank You!</a:t>
            </a:r>
            <a:endParaRPr/>
          </a:p>
        </p:txBody>
      </p:sp>
      <p:sp>
        <p:nvSpPr>
          <p:cNvPr id="509" name="Google Shape;509;p30"/>
          <p:cNvSpPr txBox="1"/>
          <p:nvPr/>
        </p:nvSpPr>
        <p:spPr>
          <a:xfrm>
            <a:off x="3190875" y="3901380"/>
            <a:ext cx="5810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Questions &amp; Answers Session</a:t>
            </a:r>
            <a:endParaRPr/>
          </a:p>
        </p:txBody>
      </p:sp>
      <p:pic>
        <p:nvPicPr>
          <p:cNvPr descr="image.png" id="510" name="Google Shape;510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90875" y="4577655"/>
            <a:ext cx="3086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1" name="Google Shape;511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57975" y="4577655"/>
            <a:ext cx="23431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2" name="Google Shape;51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19475" y="471100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3" name="Google Shape;513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886575" y="471100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4" name="Google Shape;514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9" name="Google Shape;5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31"/>
          <p:cNvSpPr txBox="1"/>
          <p:nvPr/>
        </p:nvSpPr>
        <p:spPr>
          <a:xfrm>
            <a:off x="10052744" y="6353175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 of 18</a:t>
            </a:r>
            <a:endParaRPr/>
          </a:p>
        </p:txBody>
      </p:sp>
      <p:sp>
        <p:nvSpPr>
          <p:cNvPr id="521" name="Google Shape;521;p31"/>
          <p:cNvSpPr txBox="1"/>
          <p:nvPr/>
        </p:nvSpPr>
        <p:spPr>
          <a:xfrm>
            <a:off x="762000" y="571500"/>
            <a:ext cx="11201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pic>
        <p:nvPicPr>
          <p:cNvPr descr="image.png" id="522" name="Google Shape;52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066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3" name="Google Shape;52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82375" y="6372225"/>
            <a:ext cx="114300" cy="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1"/>
          <p:cNvSpPr/>
          <p:nvPr/>
        </p:nvSpPr>
        <p:spPr>
          <a:xfrm>
            <a:off x="762000" y="2643187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762000" y="3414712"/>
            <a:ext cx="10668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1"/>
          <p:cNvSpPr/>
          <p:nvPr/>
        </p:nvSpPr>
        <p:spPr>
          <a:xfrm>
            <a:off x="762000" y="340518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1"/>
          <p:cNvSpPr/>
          <p:nvPr/>
        </p:nvSpPr>
        <p:spPr>
          <a:xfrm>
            <a:off x="762000" y="3405187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1"/>
          <p:cNvSpPr/>
          <p:nvPr/>
        </p:nvSpPr>
        <p:spPr>
          <a:xfrm>
            <a:off x="762000" y="417671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1"/>
          <p:cNvSpPr/>
          <p:nvPr/>
        </p:nvSpPr>
        <p:spPr>
          <a:xfrm>
            <a:off x="762000" y="4176712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0" name="Google Shape;53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7860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1"/>
          <p:cNvSpPr txBox="1"/>
          <p:nvPr/>
        </p:nvSpPr>
        <p:spPr>
          <a:xfrm>
            <a:off x="1857375" y="2828925"/>
            <a:ext cx="957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https://png.pngtree.com/template/20260426/ourlarge/pngtree-modern-ai-saas-dashboard-ui-kit-with-mobile-app-interface-vector-image_2070665.webp</a:t>
            </a:r>
            <a:endParaRPr/>
          </a:p>
        </p:txBody>
      </p:sp>
      <p:sp>
        <p:nvSpPr>
          <p:cNvPr id="532" name="Google Shape;532;p31"/>
          <p:cNvSpPr txBox="1"/>
          <p:nvPr/>
        </p:nvSpPr>
        <p:spPr>
          <a:xfrm>
            <a:off x="1857375" y="3028950"/>
            <a:ext cx="9572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533" name="Google Shape;53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557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1"/>
          <p:cNvSpPr txBox="1"/>
          <p:nvPr/>
        </p:nvSpPr>
        <p:spPr>
          <a:xfrm>
            <a:off x="1857375" y="3600450"/>
            <a:ext cx="957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https://www.kore1.com/wp-content/uploads/2026/03/soc-analyst-featured-kore1.webp</a:t>
            </a:r>
            <a:endParaRPr/>
          </a:p>
        </p:txBody>
      </p:sp>
      <p:sp>
        <p:nvSpPr>
          <p:cNvPr id="535" name="Google Shape;535;p31"/>
          <p:cNvSpPr txBox="1"/>
          <p:nvPr/>
        </p:nvSpPr>
        <p:spPr>
          <a:xfrm>
            <a:off x="1857375" y="3800475"/>
            <a:ext cx="9572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www.kore1.com</a:t>
            </a:r>
            <a:endParaRPr/>
          </a:p>
        </p:txBody>
      </p:sp>
      <p:pic>
        <p:nvPicPr>
          <p:cNvPr descr="image.png" id="536" name="Google Shape;53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3291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1"/>
          <p:cNvSpPr txBox="1"/>
          <p:nvPr/>
        </p:nvSpPr>
        <p:spPr>
          <a:xfrm>
            <a:off x="1857375" y="4371975"/>
            <a:ext cx="9572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https://complexdiscovery.com/wp-content/uploads/2026/06/Worm-One.jpg</a:t>
            </a:r>
            <a:endParaRPr/>
          </a:p>
        </p:txBody>
      </p:sp>
      <p:sp>
        <p:nvSpPr>
          <p:cNvPr id="538" name="Google Shape;538;p31"/>
          <p:cNvSpPr txBox="1"/>
          <p:nvPr/>
        </p:nvSpPr>
        <p:spPr>
          <a:xfrm>
            <a:off x="1857375" y="4572000"/>
            <a:ext cx="9572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complexdiscovery.com</a:t>
            </a:r>
            <a:endParaRPr/>
          </a:p>
        </p:txBody>
      </p:sp>
      <p:pic>
        <p:nvPicPr>
          <p:cNvPr descr="image.png" id="539" name="Google Shape;539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56340" y="6200775"/>
            <a:ext cx="2754659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